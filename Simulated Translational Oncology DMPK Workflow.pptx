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46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generated infographic asset: /mnt/data/an_infographic_summarises_the_simulated_translatio.png
- User-provided executed notebook with underlying analysis and figures: /mnt/data/principal_scientist_dmpk_oncology_proof_of_concept_executed-2.ipynb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executed notebook: /mnt/data/principal_scientist_dmpk_oncology_proof_of_concept_executed-2.ipynb
- Background rationale reflected in the notebook manuscript: Sachs et al., Clinical Cancer Research 2016, PMID 26597302; Saeheng et al., European Journal of Clinical Pharmacology 2018, PMID 29978293.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claims and visual assets on this slide are derived from the user-provided executed notebook: /mnt/data/principal_scientist_dmpk_oncology_proof_of_concept_executed-2.ipynb
- Derived plot assets: cell6_out0.png, cell6_out1.png, cell6_out3.png, cell8_out0.png extracted from notebook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executed notebook: /mnt/data/principal_scientist_dmpk_oncology_proof_of_concept_executed-2.ipynb
- Derived PCA cluster plot asset: cell10_out0.png extracted from notebook outputs
- Cluster medians reproduced from notebook cluster_profile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executed notebook: /mnt/data/principal_scientist_dmpk_oncology_proof_of_concept_executed-2.ipynb
- Derived plot assets: cell13_out0.png, cell13_out1.png, cell13_out2.png, cell16_out0.png extracted from notebook outputs
- Metrics reproduced from notebook classification results and permutation-importance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executed notebook: /mnt/data/principal_scientist_dmpk_oncology_proof_of_concept_executed-2.ipynb
- Derived plot assets: cell14_out0.png, cell14_out1.png, cell19_out0.png extracted from notebook outputs
- Regression metrics and ranking logic reproduced from notebook outputs and manuscript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executed notebook: /mnt/data/principal_scientist_dmpk_oncology_proof_of_concept_executed-2.ipynb
- Derived PK/PD plot asset: cell21_out0.png extracted from notebook outputs
- Candidate metrics reproduced from the notebook top-candidate summary and top10 ranking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Conclusions are synthesis based on the user-provided executed notebook and manuscript created from that notebook: /mnt/data/principal_scientist_dmpk_oncology_proof_of_concept_executed-2.ipynb
- Background rationale reflected in the notebook manuscript: Zhang et al., Cancer Chemotherapy and Pharmacology 2024, PMID 38994684; Saeheng et al., European Journal of Clinical Pharmacology 2018, PMID 29978293.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382512"/>
            <a:ext cx="10835640" cy="0"/>
          </a:xfrm>
          <a:prstGeom prst="line">
            <a:avLst/>
          </a:prstGeom>
          <a:noFill/>
          <a:ln w="12700">
            <a:solidFill>
              <a:srgbClr val="D8D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428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Translational Oncology DMPK Workflow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024128"/>
            <a:ext cx="5120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 Oncology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DMPK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4828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literature-benchmarked simulation of 320 compounds integrating exploratory DMPK analysis, machine learning, candidate ranking, and simplified PK/PD translation.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4572000" cy="0"/>
          </a:xfrm>
          <a:prstGeom prst="line">
            <a:avLst/>
          </a:prstGeom>
          <a:noFill/>
          <a:ln w="15240">
            <a:solidFill>
              <a:srgbClr val="D8D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794760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9044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423367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67712" y="3794760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9044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423367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03904" y="3794760"/>
            <a:ext cx="166420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39044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CRH_301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13632" y="4233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candidate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828032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i="1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for the interview: how I structure translational evidence, quantify trade-offs, and turn noisy DMPK data into program decisions.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897880" y="603504"/>
            <a:ext cx="5486400" cy="5413248"/>
          </a:xfrm>
          <a:prstGeom prst="roundRect">
            <a:avLst>
              <a:gd name="adj" fmla="val 1351"/>
            </a:avLst>
          </a:prstGeom>
          <a:solidFill>
            <a:srgbClr val="F5F4F8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17" name="Image 0" descr="/mnt/data/an_infographic_summarises_the_simulated_transl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749808"/>
            <a:ext cx="33832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workflow was built to show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DMPK decision process from assay-style data to translational </a:t>
            </a:r>
            <a:r>
              <a:rPr lang="en-US" sz="1250" dirty="0" err="1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408176"/>
            <a:ext cx="1993392" cy="1170432"/>
          </a:xfrm>
          <a:prstGeom prst="roundRect">
            <a:avLst>
              <a:gd name="adj" fmla="val 4688"/>
            </a:avLst>
          </a:prstGeom>
          <a:solidFill>
            <a:srgbClr val="F1ECFA"/>
          </a:solidFill>
          <a:ln w="13970">
            <a:solidFill>
              <a:srgbClr val="D8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361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8C"/>
                </a:solidFill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78408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433"/>
                </a:solidFill>
              </a:rPr>
              <a:t>Simulate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057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A6476"/>
                </a:solidFill>
              </a:rPr>
              <a:t>Physchem, ADME, safety, potency, tumor distribution, and projected human PK.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3108960" y="1408176"/>
            <a:ext cx="1993392" cy="1170432"/>
          </a:xfrm>
          <a:prstGeom prst="roundRect">
            <a:avLst>
              <a:gd name="adj" fmla="val 4688"/>
            </a:avLst>
          </a:prstGeom>
          <a:solidFill>
            <a:srgbClr val="ECF2FB"/>
          </a:solidFill>
          <a:ln w="13970">
            <a:solidFill>
              <a:srgbClr val="D8D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5361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8C"/>
                </a:solidFill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18688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433"/>
                </a:solidFill>
              </a:rPr>
              <a:t>Explore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8688" y="2057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A6476"/>
                </a:solidFill>
              </a:rPr>
              <a:t>Identify exposure, clearance, solubility, and coverage relationships.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349240" y="1408176"/>
            <a:ext cx="1993392" cy="1170432"/>
          </a:xfrm>
          <a:prstGeom prst="roundRect">
            <a:avLst>
              <a:gd name="adj" fmla="val 4688"/>
            </a:avLst>
          </a:prstGeom>
          <a:solidFill>
            <a:srgbClr val="E9F5F0"/>
          </a:solidFill>
          <a:ln w="13970">
            <a:solidFill>
              <a:srgbClr val="D8D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15361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8C"/>
                </a:solidFill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58968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433"/>
                </a:solidFill>
              </a:rPr>
              <a:t>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58968" y="2057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A6476"/>
                </a:solidFill>
              </a:rPr>
              <a:t>Use clustering, classification, regression, and feature importance.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7589520" y="1408176"/>
            <a:ext cx="1993392" cy="1170432"/>
          </a:xfrm>
          <a:prstGeom prst="roundRect">
            <a:avLst>
              <a:gd name="adj" fmla="val 4688"/>
            </a:avLst>
          </a:prstGeom>
          <a:solidFill>
            <a:srgbClr val="FBF3E3"/>
          </a:solidFill>
          <a:ln w="13970">
            <a:solidFill>
              <a:srgbClr val="D8D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15361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8C"/>
                </a:solidFill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99248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433"/>
                </a:solidFill>
              </a:rPr>
              <a:t>Decide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99248" y="2057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A6476"/>
                </a:solidFill>
              </a:rPr>
              <a:t>Rank candidates, challenge the lead, and examine a PK/PD scenario.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868680" y="2889504"/>
            <a:ext cx="3767328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3272" y="30358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Benchmarked variable families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3272" y="3346704"/>
            <a:ext cx="34381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Physicochemical space: MW, cLogP, TPSA, pKa, H-bond counts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ADME: solubility, fu, HLM CLint, hepatocyte CLint, Caco-2 Papp, efflux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Safety proxies: CYP3A4, CYP2D6, hERG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Translational outputs: oral F, human CL, half-life, dose, coverage ratio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0600" y="2889504"/>
            <a:ext cx="288036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65192" y="303580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65192" y="3346704"/>
            <a:ext cx="2551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Potency is filtered through exposure, free drug, tumor distribution, safety margin, and clinically plausible dosing before a compound can be considered truly attractive.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882128" y="2889504"/>
            <a:ext cx="3419856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30540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B3F8C"/>
                </a:solidFill>
              </a:rPr>
              <a:t>Design anchors from the executed notebook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83296" y="343814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56448" y="38221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MW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61704" y="343814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34856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34856" y="38221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HLM CL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40112" y="343814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13264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90.6%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113264" y="38221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oral 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83296" y="416966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42793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0.61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156448" y="455371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T/P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61704" y="416966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34856" y="42793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54.8 h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134856" y="455371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040112" y="4169664"/>
            <a:ext cx="93268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13264" y="42793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74.9 mg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113264" y="455371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dose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findings: the translational tensions are visible immediately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early relationships already explain much of the downstream developability behavior.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3255264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5" name="Image 0" descr="/mnt/data/notebook_extracted/cell6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79" y="1344168"/>
            <a:ext cx="3006921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1298448"/>
            <a:ext cx="3255264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7" name="Image 1" descr="/mnt/data/notebook_extracted/cell6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873" y="1344168"/>
            <a:ext cx="3002557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9808" y="3584448"/>
            <a:ext cx="3255264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9" name="Image 2" descr="/mnt/data/notebook_extracted/cell6_ou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79" y="3630168"/>
            <a:ext cx="3006921" cy="1920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160520" y="3584448"/>
            <a:ext cx="3255264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11" name="Image 3" descr="/mnt/data/notebook_extracted/cell8_out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244" y="3630168"/>
            <a:ext cx="2297815" cy="19202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35240" y="1298448"/>
            <a:ext cx="3703320" cy="4297680"/>
          </a:xfrm>
          <a:prstGeom prst="roundRect">
            <a:avLst>
              <a:gd name="adj" fmla="val 1235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7799832" y="144475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interpretation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799832" y="1755648"/>
            <a:ext cx="337413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Higher HLM intrinsic clearance eroded oral exposure across the portfolio.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Higher cLogP improved permeability but penalised solubility, creating a classic developability trade-off.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Tumor:plasma ratio alone did not guarantee target coverage; potency, fu, and exposure duration still mattered.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correlation map shows why candidate selection cannot rely on a single metric.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structure: four translational archetypes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converts a flat dataset into a map of decision-relevant compound behaviors.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6172200" cy="4535424"/>
          </a:xfrm>
          <a:prstGeom prst="roundRect">
            <a:avLst>
              <a:gd name="adj" fmla="val 806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5" name="Image 0" descr="/mnt/data/notebook_extracted/cell1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1914"/>
            <a:ext cx="6080760" cy="43182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3F8C"/>
                </a:solidFill>
              </a:rPr>
              <a:t>Cluster read-out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223760" y="1719072"/>
            <a:ext cx="3767328" cy="822960"/>
          </a:xfrm>
          <a:prstGeom prst="roundRect">
            <a:avLst>
              <a:gd name="adj" fmla="val 5556"/>
            </a:avLst>
          </a:prstGeom>
          <a:solidFill>
            <a:srgbClr val="ECF2FB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88352" y="182880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D2433"/>
                </a:solidFill>
              </a:rPr>
              <a:t>Cluster 0 | exposure-rich but weak coverage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7388352" y="206654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6"/>
                </a:solidFill>
              </a:rPr>
              <a:t>Median oral F 95%. HLM CL 10.6 µL/min/mg. Coverage ratio only 0.52, so exposure alone did not translate into robust efficacy.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0" y="2724912"/>
            <a:ext cx="3767328" cy="822960"/>
          </a:xfrm>
          <a:prstGeom prst="roundRect">
            <a:avLst>
              <a:gd name="adj" fmla="val 5556"/>
            </a:avLst>
          </a:prstGeom>
          <a:solidFill>
            <a:srgbClr val="F9ECEF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88352" y="283464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D2433"/>
                </a:solidFill>
              </a:rPr>
              <a:t>Cluster 1 | fast-clearance liabilities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88352" y="307238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6"/>
                </a:solidFill>
              </a:rPr>
              <a:t>Median oral F 55.8%. HLM CL 176.5 µL/min/mg. Coverage ratio 0.05, representing chemotypes unlikely to progress without redesign.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23760" y="3730752"/>
            <a:ext cx="3767328" cy="822960"/>
          </a:xfrm>
          <a:prstGeom prst="roundRect">
            <a:avLst>
              <a:gd name="adj" fmla="val 5556"/>
            </a:avLst>
          </a:prstGeom>
          <a:solidFill>
            <a:srgbClr val="F5F4F8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88352" y="384048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D2433"/>
                </a:solidFill>
              </a:rPr>
              <a:t>Cluster 2 | middle-of-the-portfolio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388352" y="407822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6"/>
                </a:solidFill>
              </a:rPr>
              <a:t>Median oral F 89.6%. HLM CL 40.9 µL/min/mg. A workable but unremarkable region needing stronger translational differentiation.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23760" y="4736592"/>
            <a:ext cx="3767328" cy="822960"/>
          </a:xfrm>
          <a:prstGeom prst="roundRect">
            <a:avLst>
              <a:gd name="adj" fmla="val 5556"/>
            </a:avLst>
          </a:prstGeom>
          <a:solidFill>
            <a:srgbClr val="E9F5F0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88352" y="48463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D2433"/>
                </a:solidFill>
              </a:rPr>
              <a:t>Cluster 3 | translational sweet spot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7388352" y="50840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6"/>
                </a:solidFill>
              </a:rPr>
              <a:t>Median oral F 95%. HLM CL 14.0 µL/min/mg. Coverage ratio 3.53 and lower projected dose; this is where the best candidates concentrated.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for high-tier developability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classifier was useful because its signal aligned with mechanistic DMPK intuition.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2514600" cy="190195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5" name="Image 0" descr="/mnt/data/notebook_extracted/cell1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39" y="1344168"/>
            <a:ext cx="2327801" cy="1810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56432" y="1298448"/>
            <a:ext cx="2514600" cy="190195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7" name="Image 1" descr="/mnt/data/notebook_extracted/cell13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831" y="1344168"/>
            <a:ext cx="2327801" cy="18105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3456432"/>
            <a:ext cx="2514600" cy="190195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9" name="Image 2" descr="/mnt/data/notebook_extracted/cell13_ou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97" y="3502152"/>
            <a:ext cx="2071686" cy="18105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63640" y="1298448"/>
            <a:ext cx="5010912" cy="405993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11" name="Image 3" descr="/mnt/data/notebook_extracted/cell16_out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584175"/>
            <a:ext cx="4919472" cy="34884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02736" y="346677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8C"/>
                </a:solidFill>
              </a:rPr>
              <a:t>Random forest performance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3566160" y="3858768"/>
            <a:ext cx="1005840" cy="640080"/>
          </a:xfrm>
          <a:prstGeom prst="roundRect">
            <a:avLst>
              <a:gd name="adj" fmla="val 5714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639312" y="396849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0.954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639312" y="424281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AUROC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681728" y="3858768"/>
            <a:ext cx="1005840" cy="640080"/>
          </a:xfrm>
          <a:prstGeom prst="roundRect">
            <a:avLst>
              <a:gd name="adj" fmla="val 5714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54880" y="396849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0.920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754880" y="424281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AUPRC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566160" y="4553712"/>
            <a:ext cx="1005840" cy="640080"/>
          </a:xfrm>
          <a:prstGeom prst="roundRect">
            <a:avLst>
              <a:gd name="adj" fmla="val 5714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639312" y="466344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0.888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3639312" y="49377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681728" y="4553712"/>
            <a:ext cx="1005840" cy="640080"/>
          </a:xfrm>
          <a:prstGeom prst="roundRect">
            <a:avLst>
              <a:gd name="adj" fmla="val 5714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54880" y="466344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0.830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4754880" y="49377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602736" y="549554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6"/>
                </a:solidFill>
              </a:rPr>
              <a:t>Top drivers were solubility, HLM CL, hepatocyte CL, hERG margin, cLogP, and cellular potency.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PK projection and portfolio ranking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was informative, but not equally easy across endpoints; ranking still required scientific judgement.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35024"/>
            <a:ext cx="2926080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5" name="Image 0" descr="/mnt/data/notebook_extracted/cell1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63" y="1380744"/>
            <a:ext cx="2297570" cy="2084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" y="3657600"/>
            <a:ext cx="2926080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7" name="Image 1" descr="/mnt/data/notebook_extracted/cell14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063" y="3703320"/>
            <a:ext cx="2297570" cy="20848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19088" y="1335024"/>
            <a:ext cx="4919472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9" name="Image 2" descr="/mnt/data/notebook_extracted/cell19_out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217" y="1380744"/>
            <a:ext cx="4457214" cy="26517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13632" y="1335024"/>
            <a:ext cx="2176272" cy="2176272"/>
          </a:xfrm>
          <a:prstGeom prst="roundRect">
            <a:avLst>
              <a:gd name="adj" fmla="val 2101"/>
            </a:avLst>
          </a:prstGeom>
          <a:solidFill>
            <a:srgbClr val="ECF2FB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078224" y="148132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read-out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078224" y="1792224"/>
            <a:ext cx="18470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clearance model: Gradient Boosting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3.60 mL/min/kg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0.390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oral F model: Ridge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5.22 percentage points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0.864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913632" y="3657600"/>
            <a:ext cx="2176272" cy="2176272"/>
          </a:xfrm>
          <a:prstGeom prst="roundRect">
            <a:avLst>
              <a:gd name="adj" fmla="val 2101"/>
            </a:avLst>
          </a:prstGeom>
          <a:solidFill>
            <a:srgbClr val="FBF3E3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078224" y="3803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078224" y="4114800"/>
            <a:ext cx="18470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bioavailability was easier to learn because the synthetic portfolio encoded direct exposure drivers. Human clearance stayed harder, which is exactly the translational reality.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19088" y="4315968"/>
            <a:ext cx="4919472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583680" y="4462272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ranking added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4773168"/>
            <a:ext cx="45902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composite score integrated coverage, oral F, safety margin, half-life, dose burden, DDI burden, and intrinsic clearance. That made the final selection more robust than simply choosing the most potent or most exposed compound.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candidate deep dive: CRH_301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best-ranked compound still needed a mechanistic challenge test before it could be considered truly de-risked.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767328" cy="4480560"/>
          </a:xfrm>
          <a:prstGeom prst="roundRect">
            <a:avLst>
              <a:gd name="adj" fmla="val 1214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3F8C"/>
                </a:solidFill>
              </a:rPr>
              <a:t>CRH_301 | DNA damage response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D2433"/>
                </a:solidFill>
              </a:rPr>
              <a:t>Why it rose to the top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1060704" y="2304288"/>
            <a:ext cx="316382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human CL 6.075 mL/min/kg and half-life 54.758 h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bioavailability 95.0% with predicted effective dose 74.949 mg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ratio 6.556 with manageable DDI burden score 0.1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margin 16.917 and attractive overall multi-objective rank score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42416" y="4081008"/>
            <a:ext cx="3310128" cy="0"/>
          </a:xfrm>
          <a:prstGeom prst="line">
            <a:avLst/>
          </a:prstGeom>
          <a:noFill/>
          <a:ln w="12700">
            <a:solidFill>
              <a:srgbClr val="D8D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4302057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D2433"/>
                </a:solidFill>
              </a:rPr>
              <a:t>Stress test from the PK/PD scenario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1024128" y="4864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A6476"/>
                </a:solidFill>
              </a:rPr>
              <a:t>The simplified tumor free-concentration profile stayed below the cellular EC50 line. In a real program, that would trigger schedule optimisation, tissue PK work, or a deeper PBPK/QSP pass before nomination.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864608" y="1371600"/>
            <a:ext cx="644652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8D5E2"/>
            </a:solidFill>
            <a:prstDash val="solid"/>
          </a:ln>
        </p:spPr>
      </p:sp>
      <p:pic>
        <p:nvPicPr>
          <p:cNvPr id="12" name="Image 0" descr="/mnt/data/notebook_extracted/cell2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444327"/>
            <a:ext cx="6355080" cy="4335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3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extend this into a real discovery program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59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not in the synthetic data; it </a:t>
            </a:r>
            <a:r>
              <a:rPr lang="en-US" sz="125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in the </a:t>
            </a:r>
            <a:r>
              <a:rPr lang="en-US" sz="1250" dirty="0">
                <a:solidFill>
                  <a:srgbClr val="5A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architecture behind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77824" y="1481328"/>
            <a:ext cx="2880360" cy="4078224"/>
          </a:xfrm>
          <a:prstGeom prst="roundRect">
            <a:avLst>
              <a:gd name="adj" fmla="val 1905"/>
            </a:avLst>
          </a:prstGeom>
          <a:solidFill>
            <a:srgbClr val="ECF2FB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3F8C"/>
                </a:solidFill>
              </a:rPr>
              <a:t>Scientific depth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2416" y="2139696"/>
            <a:ext cx="252374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assay-to-model traceability for ADME, DDI, and safety margins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free-drug and tumor-exposure reasoning rather than total plasma PK alone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Mechanistic dose rationale instead of potency-led selection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142232" y="1481328"/>
            <a:ext cx="2880360" cy="4078224"/>
          </a:xfrm>
          <a:prstGeom prst="roundRect">
            <a:avLst>
              <a:gd name="adj" fmla="val 1905"/>
            </a:avLst>
          </a:prstGeom>
          <a:solidFill>
            <a:srgbClr val="E9F5F0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3F8C"/>
                </a:solidFill>
              </a:rPr>
              <a:t>Quantitative toolkit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06824" y="2139696"/>
            <a:ext cx="252374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PBPK for human translation and scenario analysis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PK/PD or QSP for target engagement and biomarker linkage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ML for triage, not as a replacement for pharmacology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2880360" cy="4078224"/>
          </a:xfrm>
          <a:prstGeom prst="roundRect">
            <a:avLst>
              <a:gd name="adj" fmla="val 1905"/>
            </a:avLst>
          </a:prstGeom>
          <a:solidFill>
            <a:srgbClr val="FBF3E3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3F8C"/>
                </a:solidFill>
              </a:rPr>
              <a:t>Decision mindset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71232" y="2139696"/>
            <a:ext cx="252374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multidimensional data into a few action-driving risks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clustering and ranking to focus teams on the right compounds</a:t>
            </a:r>
            <a:endParaRPr lang="en-US" sz="1320" dirty="0"/>
          </a:p>
          <a:p>
            <a:pPr marL="142494" indent="-142494">
              <a:buSzPct val="100000"/>
              <a:buChar char="•"/>
            </a:pPr>
            <a:r>
              <a:rPr lang="en-US" sz="132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the winning compound before committing to nomination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77824" y="5687568"/>
            <a:ext cx="10314432" cy="402336"/>
          </a:xfrm>
          <a:prstGeom prst="roundRect">
            <a:avLst>
              <a:gd name="adj" fmla="val 9091"/>
            </a:avLst>
          </a:prstGeom>
          <a:solidFill>
            <a:srgbClr val="F1ECFA"/>
          </a:solidFill>
          <a:ln w="12700">
            <a:solidFill>
              <a:srgbClr val="D8D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806440"/>
            <a:ext cx="9985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D2433"/>
                </a:solidFill>
              </a:rPr>
              <a:t>Take-home: this demonstration shows how to connect DMPK science, translational modeling, and portfolio-level decision support to advance the best oncology assets toward the clinic.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1514</Words>
  <Application>Microsoft Macintosh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demonstration: Translational Oncology DMPK workflow</dc:title>
  <dc:subject>Interview demonstration: simulated translational oncology DMPK workflow</dc:subject>
  <dc:creator>OpenAI</dc:creator>
  <cp:lastModifiedBy>M P</cp:lastModifiedBy>
  <cp:revision>5</cp:revision>
  <dcterms:created xsi:type="dcterms:W3CDTF">2026-04-10T02:45:05Z</dcterms:created>
  <dcterms:modified xsi:type="dcterms:W3CDTF">2026-04-15T19:55:47Z</dcterms:modified>
</cp:coreProperties>
</file>